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033272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2C46D"/>
                </a:solidFill>
                <a:latin typeface="Segoe UI"/>
              </a:rPr>
              <a:t>DEFESA ACADÊMICA · RELATO DE EXPERIÊNCIA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10881360" cy="1828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4400" b="1" i="0">
                <a:solidFill>
                  <a:srgbClr val="E9F5EE"/>
                </a:solidFill>
                <a:latin typeface="Segoe UI"/>
              </a:rPr>
              <a:t>DA SALA PARA A RUA</a:t>
            </a:r>
          </a:p>
          <a:p>
            <a:pPr algn="ctr"/>
            <a:r>
              <a:rPr sz="2400" b="1" i="0">
                <a:solidFill>
                  <a:srgbClr val="6FE3A5"/>
                </a:solidFill>
                <a:latin typeface="Segoe UI"/>
              </a:rPr>
              <a:t>Brincar livre na vizinhança e atenuação da intensidade de sintomas de TDAH em pré-escolar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10332720" cy="640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500" b="0" i="0">
                <a:solidFill>
                  <a:srgbClr val="9DB8AA"/>
                </a:solidFill>
                <a:latin typeface="Segoe UI"/>
              </a:rPr>
              <a:t>Uma leitura humanista de um caso clínico à luz da literatura sobre natureza, pares e autorregulação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0" i="0">
                <a:solidFill>
                  <a:srgbClr val="9DB8AA"/>
                </a:solidFill>
                <a:latin typeface="Segoe UI"/>
              </a:rPr>
              <a:t>Ana Gessyca de Sousa Fernandes · Isabelly Rosa Cavalcante · Nadielle Darc Batista Dias</a:t>
            </a:r>
          </a:p>
          <a:p>
            <a:pPr algn="ctr"/>
            <a:r>
              <a:rPr sz="1400" b="0" i="0">
                <a:solidFill>
                  <a:srgbClr val="9DB8AA"/>
                </a:solidFill>
                <a:latin typeface="Segoe UI"/>
              </a:rPr>
              <a:t>Winny Ketlyn Sabóia Teixeira · Marta Tainá Silva de Sousa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0" i="0">
                <a:solidFill>
                  <a:srgbClr val="9DB8AA"/>
                </a:solidFill>
                <a:latin typeface="Segoe UI"/>
              </a:rPr>
              <a:t>Discentes do curso de graduação em Psicologia · Orientadora: [A PREENCHER] ·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22" dur="indefinite" restart="never" nodeType="tmRoot">
          <p:childTnLst>
            <p:seq concurrent="1" nextAc="seek">
              <p:cTn id="121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15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31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47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63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79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300" b="1" i="0">
                <a:solidFill>
                  <a:srgbClr val="F2C46D"/>
                </a:solidFill>
                <a:latin typeface="Segoe UI"/>
              </a:rPr>
              <a:t>ROTEIRO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3000" b="1" i="0">
                <a:solidFill>
                  <a:srgbClr val="6FE3A5"/>
                </a:solidFill>
                <a:latin typeface="Segoe UI"/>
              </a:rPr>
              <a:t>O que vamos apresentar (18 min + arguição)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1005840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600" b="1" i="0">
                <a:solidFill>
                  <a:srgbClr val="A8F0C8"/>
                </a:solidFill>
                <a:latin typeface="Segoe UI"/>
              </a:rPr>
              <a:t>1. O caso que disparou tudo — </a:t>
            </a:r>
            <a:r>
              <a:rPr sz="1600" b="0" i="0">
                <a:solidFill>
                  <a:srgbClr val="E9F5EE"/>
                </a:solidFill>
                <a:latin typeface="Segoe UI"/>
              </a:rPr>
              <a:t>a vinheta clínica (2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96312"/>
            <a:ext cx="1005840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600" b="0" i="0">
                <a:solidFill>
                  <a:srgbClr val="E9F5EE"/>
                </a:solidFill>
                <a:latin typeface="Segoe UI"/>
              </a:rPr>
              <a:t>2. Pergunta, lacuna e objetivos (2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18104"/>
            <a:ext cx="1005840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600" b="0" i="0">
                <a:solidFill>
                  <a:srgbClr val="E9F5EE"/>
                </a:solidFill>
                <a:latin typeface="Segoe UI"/>
              </a:rPr>
              <a:t>3. Método: revisão integrativa, ética e critérios de invalidação (3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39896"/>
            <a:ext cx="1005840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600" b="0" i="0">
                <a:solidFill>
                  <a:srgbClr val="E9F5EE"/>
                </a:solidFill>
                <a:latin typeface="Segoe UI"/>
              </a:rPr>
              <a:t>4. Evidências: seis âncoras em três eixos (4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361688"/>
            <a:ext cx="1005840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600" b="1" i="0">
                <a:solidFill>
                  <a:srgbClr val="A8F0C8"/>
                </a:solidFill>
                <a:latin typeface="Segoe UI"/>
              </a:rPr>
              <a:t>5. O caso à luz da literatura — </a:t>
            </a:r>
            <a:r>
              <a:rPr sz="1600" b="0" i="0">
                <a:solidFill>
                  <a:srgbClr val="E9F5EE"/>
                </a:solidFill>
                <a:latin typeface="Segoe UI"/>
              </a:rPr>
              <a:t>o que dá para afirmar (3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983480"/>
            <a:ext cx="1005840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600" b="0" i="0">
                <a:solidFill>
                  <a:srgbClr val="E9F5EE"/>
                </a:solidFill>
                <a:latin typeface="Segoe UI"/>
              </a:rPr>
              <a:t>6. Limitações, agenda e implicações práticas (2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605272"/>
            <a:ext cx="1005840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600" b="0" i="0">
                <a:solidFill>
                  <a:srgbClr val="E9F5EE"/>
                </a:solidFill>
                <a:latin typeface="Segoe UI"/>
              </a:rPr>
              <a:t>7. Conclusão e abertura para a banca (2 min)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52" dur="indefinite" restart="never" nodeType="tmRoot">
          <p:childTnLst>
            <p:seq concurrent="1" nextAc="seek">
              <p:cTn id="151" dur="indefinite" nodeType="mainSeq">
                <p:childTnLst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15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30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45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60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750"/>
                            </p:stCondLst>
                            <p:childTnLst>
                              <p:par>
                                <p:cTn id="1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90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105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300" b="1" i="0">
                <a:solidFill>
                  <a:srgbClr val="F2C46D"/>
                </a:solidFill>
                <a:latin typeface="Segoe UI"/>
              </a:rPr>
              <a:t>PONTO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3000" b="1" i="0">
                <a:solidFill>
                  <a:srgbClr val="6FE3A5"/>
                </a:solidFill>
                <a:latin typeface="Segoe UI"/>
              </a:rPr>
              <a:t>Um caso que a escuta clínica não ignorou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120640" cy="155448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Antes da mudança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M., 5 anos, laudo de TDAH misto. Hiperatividade grave: não conseguia permanecer nem diante da televisão. Em sessão: trocas rápidas de brinquedos, fala acelerada, poucos pares.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783080"/>
            <a:ext cx="5120640" cy="155448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Depois da mudança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A família mudou de endereço. A criança passou a brincar todos os dias na vizinhança com crianças de idade próxima. Mãe e terapeuta passaram a notá-la bem mais tranquila — inclusive nas sessões.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500" b="0" i="0">
                <a:solidFill>
                  <a:srgbClr val="9DB8AA"/>
                </a:solidFill>
                <a:latin typeface="Segoe UI"/>
              </a:rPr>
              <a:t>[ TV sem conseguir parar ]   ────▶   [ Sol + crianças pulando: brincar diário na vizinhança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51560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1250" b="0" i="0">
                <a:solidFill>
                  <a:srgbClr val="F2C46D"/>
                </a:solidFill>
                <a:latin typeface="Segoe UI"/>
              </a:rPr>
              <a:t>⚠ Ética: nome fictício (M.), anonimização completa, TCLE do responsável e assentimento lúdico [A ANEXAR]. Uso de medicação: NÃO DECLARADO pela família até o fechamento — registrado literalmente, sem presumir ausência.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70" dur="indefinite" restart="never" nodeType="tmRoot">
          <p:childTnLst>
            <p:seq concurrent="1" nextAc="seek">
              <p:cTn id="169" dur="indefinite" nodeType="mainSeq">
                <p:childTnLst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20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45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750"/>
                            </p:stCondLst>
                            <p:childTnLst>
                              <p:par>
                                <p:cTn id="1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1100"/>
                            </p:stCondLst>
                            <p:childTnLst>
                              <p:par>
                                <p:cTn id="1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300" b="1" i="0">
                <a:solidFill>
                  <a:srgbClr val="F2C46D"/>
                </a:solidFill>
                <a:latin typeface="Segoe UI"/>
              </a:rPr>
              <a:t>PROBLEMA DE PESQUISA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3000" b="1" i="0">
                <a:solidFill>
                  <a:srgbClr val="6FE3A5"/>
                </a:solidFill>
                <a:latin typeface="Segoe UI"/>
              </a:rPr>
              <a:t>O que a literatura já sabe sobre o que aconteceu com M.?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600" b="0" i="0">
                <a:solidFill>
                  <a:srgbClr val="E9F5EE"/>
                </a:solidFill>
                <a:latin typeface="Segoe UI"/>
              </a:rPr>
              <a:t>O que a literatura nacional e internacional, de 2004 a 2026, descreve sobre a relação entre brincar livre em espaços externos ou na vizinhança e a atenuação da intensidade de sintomas de TDAH em pré-escolares — e como isso dialoga com a clínica humanista?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46120"/>
            <a:ext cx="3383280" cy="201168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/>
            <a:r>
              <a:rPr sz="1300" b="1" i="0">
                <a:solidFill>
                  <a:srgbClr val="6FE3A5"/>
                </a:solidFill>
                <a:latin typeface="Segoe UI"/>
              </a:rPr>
              <a:t>LACUNA 1  </a:t>
            </a:r>
          </a:p>
          <a:p>
            <a:pPr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Faixa etária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Quase todos os estudos cobrem escolares de 7–12 anos. Pouquíssimos com 5 anos.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246120"/>
            <a:ext cx="3383280" cy="201168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/>
            <a:r>
              <a:rPr sz="1300" b="1" i="0">
                <a:solidFill>
                  <a:srgbClr val="6FE3A5"/>
                </a:solidFill>
                <a:latin typeface="Segoe UI"/>
              </a:rPr>
              <a:t>LACUNA 2  </a:t>
            </a:r>
          </a:p>
          <a:p>
            <a:pPr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Cenário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Pesquisas usam parques e programas planejados; o brincar cotidiano de rua/vizinhança é raro na literatura.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246120"/>
            <a:ext cx="3383280" cy="201168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/>
            <a:r>
              <a:rPr sz="1300" b="1" i="0">
                <a:solidFill>
                  <a:srgbClr val="6FE3A5"/>
                </a:solidFill>
                <a:latin typeface="Segoe UI"/>
              </a:rPr>
              <a:t>LACUNA 3  </a:t>
            </a:r>
          </a:p>
          <a:p>
            <a:pPr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Olhar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Nenhum estudo identificado sob a ótica humanista brasileira (Abordagem Centrada na Pessoa).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88" dur="indefinite" restart="never" nodeType="tmRoot">
          <p:childTnLst>
            <p:seq concurrent="1" nextAc="seek">
              <p:cTn id="187" dur="indefinite" nodeType="mainSeq">
                <p:childTnLst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200"/>
                            </p:stCondLst>
                            <p:childTnLst>
                              <p:par>
                                <p:cTn id="1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650"/>
                            </p:stCondLst>
                            <p:childTnLst>
                              <p:par>
                                <p:cTn id="1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800"/>
                            </p:stCondLst>
                            <p:childTnLst>
                              <p:par>
                                <p:cTn id="1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300" b="1" i="0">
                <a:solidFill>
                  <a:srgbClr val="F2C46D"/>
                </a:solidFill>
                <a:latin typeface="Segoe UI"/>
              </a:rPr>
              <a:t>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3000" b="1" i="0">
                <a:solidFill>
                  <a:srgbClr val="6FE3A5"/>
                </a:solidFill>
                <a:latin typeface="Segoe UI"/>
              </a:rPr>
              <a:t>O que este trabalho se propõe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61320" cy="105156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Objetivo geral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Sintetizar evidências e lacunas sobre ambiente, brincar social e TDAH pré-escolar, tornando inteligível a mudança observada no caso índice.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63240"/>
            <a:ext cx="3383280" cy="228600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/>
            <a:r>
              <a:rPr sz="1300" b="1" i="0">
                <a:solidFill>
                  <a:srgbClr val="6FE3A5"/>
                </a:solidFill>
                <a:latin typeface="Segoe UI"/>
              </a:rPr>
              <a:t>a  </a:t>
            </a:r>
          </a:p>
          <a:p>
            <a:pPr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Verde e gravidade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Mapear evidências sobre natureza, espaço verde e intensidade de sintomas de TDAH.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63240"/>
            <a:ext cx="3383280" cy="228600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/>
            <a:r>
              <a:rPr sz="1300" b="1" i="0">
                <a:solidFill>
                  <a:srgbClr val="6FE3A5"/>
                </a:solidFill>
                <a:latin typeface="Segoe UI"/>
              </a:rPr>
              <a:t>b  </a:t>
            </a:r>
          </a:p>
          <a:p>
            <a:pPr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Pares e autorregulação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Mapear evidências sobre brincar livre entre pares na faixa de 3 a 6 anos.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063240"/>
            <a:ext cx="3383280" cy="228600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/>
            <a:r>
              <a:rPr sz="1300" b="1" i="0">
                <a:solidFill>
                  <a:srgbClr val="6FE3A5"/>
                </a:solidFill>
                <a:latin typeface="Segoe UI"/>
              </a:rPr>
              <a:t>c  </a:t>
            </a:r>
          </a:p>
          <a:p>
            <a:pPr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Clínica humanista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Articular os fundamentos de Rogers e Axline que ajudam a explicar a tranquilização também em sessão.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06" dur="indefinite" restart="never" nodeType="tmRoot">
          <p:childTnLst>
            <p:seq concurrent="1" nextAc="seek">
              <p:cTn id="205" dur="indefinite" nodeType="mainSeq">
                <p:childTnLst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200"/>
                            </p:stCondLst>
                            <p:childTnLst>
                              <p:par>
                                <p:cTn id="1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500"/>
                            </p:stCondLst>
                            <p:childTnLst>
                              <p:par>
                                <p:cTn id="1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650"/>
                            </p:stCondLst>
                            <p:childTnLst>
                              <p:par>
                                <p:cTn id="1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800"/>
                            </p:stCondLst>
                            <p:childTnLst>
                              <p:par>
                                <p:cTn id="2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300" b="1" i="0">
                <a:solidFill>
                  <a:srgbClr val="F2C46D"/>
                </a:solidFill>
                <a:latin typeface="Segoe UI"/>
              </a:rPr>
              <a:t>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3000" b="1" i="0">
                <a:solidFill>
                  <a:srgbClr val="6FE3A5"/>
                </a:solidFill>
                <a:latin typeface="Segoe UI"/>
              </a:rPr>
              <a:t>Revisão integrativa narrativa com vinheta clínica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120640" cy="178308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Bases e período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SciELO · BVS/PEPSIC · Portal CAPES · PubMed · PsycINFO — 2004 a 2026, em português, inglês e espanhol. Descritores DeCS/MeSH: TDAH; pré-escolar; brincar; meio ambiente; terapia centrada no cliente.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783080"/>
            <a:ext cx="5120640" cy="178308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Critérios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Inclusão: 3–12 anos, laudo ou traços de TDAH, contexto externo/vizinhança/natureza, desfecho comportamental. Exclusão: só adultos, farmacologia sem ambiente, resumo sem texto completo, duplicatas.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03320"/>
            <a:ext cx="5120640" cy="178308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Desenho — com honestidade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Estudo descritivo-hermenêutico de caso único: gera hipóteses, não as confirma. Por isso dispensa, deliberadamente, grupo de controle e isolamento de variáveis.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03320"/>
            <a:ext cx="5120640" cy="178308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Critérios de invalidação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A hipótese do “tempo verde-social” cai se: (a) SNAP-IV piorar/estabilizar em 3 meses; (b) melhora persistir sem brincar; (c) surgir psicofármaco no período; (d) mãe e professora discordarem; (e) grupo-irmão sem exposição melhorar igual.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24" dur="indefinite" restart="never" nodeType="tmRoot">
          <p:childTnLst>
            <p:seq concurrent="1" nextAc="seek">
              <p:cTn id="223" dur="indefinite" nodeType="mainSeq">
                <p:childTnLst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200"/>
                            </p:stCondLst>
                            <p:childTnLst>
                              <p:par>
                                <p:cTn id="2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400"/>
                            </p:stCondLst>
                            <p:childTnLst>
                              <p:par>
                                <p:cTn id="2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600"/>
                            </p:stCondLst>
                            <p:childTnLst>
                              <p:par>
                                <p:cTn id="2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800"/>
                            </p:stCondLst>
                            <p:childTnLst>
                              <p:par>
                                <p:cTn id="2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300" b="1" i="0">
                <a:solidFill>
                  <a:srgbClr val="F2C46D"/>
                </a:solidFill>
                <a:latin typeface="Segoe UI"/>
              </a:rPr>
              <a:t>EVIDÊNCIAS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3000" b="1" i="0">
                <a:solidFill>
                  <a:srgbClr val="6FE3A5"/>
                </a:solidFill>
                <a:latin typeface="Segoe UI"/>
              </a:rPr>
              <a:t>Seis referências-âncora auditadas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3383280" cy="205740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/>
            <a:r>
              <a:rPr sz="1300" b="1" i="0">
                <a:solidFill>
                  <a:srgbClr val="6FE3A5"/>
                </a:solidFill>
                <a:latin typeface="Segoe UI"/>
              </a:rPr>
              <a:t>1  </a:t>
            </a:r>
          </a:p>
          <a:p>
            <a:pPr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Hood &amp; Baumann (2024)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Revisão sistemática: 458 estudos → 7 incluídos. Verde denso e brincar em “árvores grandes e grama” ligam-se a menos sintomas, controlando renda e fatores pré-natais.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783080"/>
            <a:ext cx="3383280" cy="205740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/>
            <a:r>
              <a:rPr sz="1300" b="1" i="0">
                <a:solidFill>
                  <a:srgbClr val="6FE3A5"/>
                </a:solidFill>
                <a:latin typeface="Segoe UI"/>
              </a:rPr>
              <a:t>2  </a:t>
            </a:r>
          </a:p>
          <a:p>
            <a:pPr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Kuo &amp; Faber Taylor (2004)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452 pais. A mesma atividade em verde alivia mais (p &lt; 0,001); em hiperativos, só o verde aberto funciona.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83080"/>
            <a:ext cx="3383280" cy="205740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/>
            <a:r>
              <a:rPr sz="1300" b="1" i="0">
                <a:solidFill>
                  <a:srgbClr val="6FE3A5"/>
                </a:solidFill>
                <a:latin typeface="Segoe UI"/>
              </a:rPr>
              <a:t>3  </a:t>
            </a:r>
          </a:p>
          <a:p>
            <a:pPr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Faber Taylor &amp; Kuo (2009)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Experimento controlado intrasujeito (17 crianças): atenção objetivamente melhor após caminhada em parque do que em percurso urbano.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3383280" cy="205740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/>
            <a:r>
              <a:rPr sz="1300" b="1" i="0">
                <a:solidFill>
                  <a:srgbClr val="6FE3A5"/>
                </a:solidFill>
                <a:latin typeface="Segoe UI"/>
              </a:rPr>
              <a:t>4  </a:t>
            </a:r>
          </a:p>
          <a:p>
            <a:pPr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Taylor &amp; Kuo (2011)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421 famílias. Brincar regular em verde = sintomas mais leves, em todos os sexos e rendas. Propõem “dose verde” regular.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023360"/>
            <a:ext cx="3383280" cy="205740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/>
            <a:r>
              <a:rPr sz="1300" b="1" i="0">
                <a:solidFill>
                  <a:srgbClr val="6FE3A5"/>
                </a:solidFill>
                <a:latin typeface="Segoe UI"/>
              </a:rPr>
              <a:t>5  </a:t>
            </a:r>
          </a:p>
          <a:p>
            <a:pPr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Damasceno et al. (2025)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Intervenção brasileira de 6 meses (GI × GC, SNAP-IV): o tipo de TDAH permanece, a intensidade recua de “demais” para “bastante/pouco”.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023360"/>
            <a:ext cx="3383280" cy="205740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/>
            <a:r>
              <a:rPr sz="1300" b="1" i="0">
                <a:solidFill>
                  <a:srgbClr val="6FE3A5"/>
                </a:solidFill>
                <a:latin typeface="Segoe UI"/>
              </a:rPr>
              <a:t>6  </a:t>
            </a:r>
          </a:p>
          <a:p>
            <a:pPr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Yang et al. (2019)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59.754 crianças, China. Cada +0,1 no índice de verde do entorno escolar = chance 13% menor de sintomas.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50" dur="indefinite" restart="never" nodeType="tmRoot">
          <p:childTnLst>
            <p:seq concurrent="1" nextAc="seek">
              <p:cTn id="249" dur="indefinite" nodeType="mainSeq">
                <p:childTnLst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150"/>
                            </p:stCondLst>
                            <p:childTnLst>
                              <p:par>
                                <p:cTn id="2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280"/>
                            </p:stCondLst>
                            <p:childTnLst>
                              <p:par>
                                <p:cTn id="2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410"/>
                            </p:stCondLst>
                            <p:childTnLst>
                              <p:par>
                                <p:cTn id="2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540"/>
                            </p:stCondLst>
                            <p:childTnLst>
                              <p:par>
                                <p:cTn id="2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670"/>
                            </p:stCondLst>
                            <p:childTnLst>
                              <p:par>
                                <p:cTn id="2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800"/>
                            </p:stCondLst>
                            <p:childTnLst>
                              <p:par>
                                <p:cTn id="2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300" b="1" i="0">
                <a:solidFill>
                  <a:srgbClr val="F2C46D"/>
                </a:solidFill>
                <a:latin typeface="Segoe UI"/>
              </a:rPr>
              <a:t>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3000" b="1" i="0">
                <a:solidFill>
                  <a:srgbClr val="6FE3A5"/>
                </a:solidFill>
                <a:latin typeface="Segoe UI"/>
              </a:rPr>
              <a:t>Três eixos que conversam com o caso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3383280" cy="219456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/>
            <a:r>
              <a:rPr sz="1300" b="1" i="0">
                <a:solidFill>
                  <a:srgbClr val="6FE3A5"/>
                </a:solidFill>
                <a:latin typeface="Segoe UI"/>
              </a:rPr>
              <a:t>EIXO 1  </a:t>
            </a:r>
          </a:p>
          <a:p>
            <a:pPr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Verde e restauração atencional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A natureza captura a atenção sem esforço e descansa o sistema atencional sobrecarregado no TDAH (Teoria da Restauração da Atenção).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783080"/>
            <a:ext cx="3383280" cy="219456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/>
            <a:r>
              <a:rPr sz="1300" b="1" i="0">
                <a:solidFill>
                  <a:srgbClr val="6FE3A5"/>
                </a:solidFill>
                <a:latin typeface="Segoe UI"/>
              </a:rPr>
              <a:t>EIXO 2  </a:t>
            </a:r>
          </a:p>
          <a:p>
            <a:pPr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Brincar entre pares como regulador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Laboratório de convivência: pertencimento, frustração, espera, regras negociadas, corpo em movimento, menos telas.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83080"/>
            <a:ext cx="3383280" cy="219456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/>
            <a:r>
              <a:rPr sz="1300" b="1" i="0">
                <a:solidFill>
                  <a:srgbClr val="6FE3A5"/>
                </a:solidFill>
                <a:latin typeface="Segoe UI"/>
              </a:rPr>
              <a:t>EIXO 3  </a:t>
            </a:r>
          </a:p>
          <a:p>
            <a:pPr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Clínica humanista como facilitador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Relação viva, não técnica sobre a criança: acolhida na rua e na sessão, a criança integra em vez de só descarregar.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515600" cy="731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600" b="1" i="0">
                <a:solidFill>
                  <a:srgbClr val="A8F0C8"/>
                </a:solidFill>
                <a:latin typeface="Segoe UI"/>
              </a:rPr>
              <a:t>O padrão de M. replica Damasceno: a intensidade diminui, o tipo permanece. E inverte o “déficit de natureza” descrito por Louv (2015).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68" dur="indefinite" restart="never" nodeType="tmRoot">
          <p:childTnLst>
            <p:seq concurrent="1" nextAc="seek">
              <p:cTn id="267" dur="indefinite" nodeType="mainSeq">
                <p:childTnLst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200"/>
                            </p:stCondLst>
                            <p:childTnLst>
                              <p:par>
                                <p:cTn id="2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350"/>
                            </p:stCondLst>
                            <p:childTnLst>
                              <p:par>
                                <p:cTn id="2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500"/>
                            </p:stCondLst>
                            <p:childTnLst>
                              <p:par>
                                <p:cTn id="2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800"/>
                            </p:stCondLst>
                            <p:childTnLst>
                              <p:par>
                                <p:cTn id="2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300" b="1" i="0">
                <a:solidFill>
                  <a:srgbClr val="F2C46D"/>
                </a:solidFill>
                <a:latin typeface="Segoe UI"/>
              </a:rPr>
              <a:t>REGISTRO CLÍNICO-MATERNO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3000" b="1" i="0">
                <a:solidFill>
                  <a:srgbClr val="6FE3A5"/>
                </a:solidFill>
                <a:latin typeface="Segoe UI"/>
              </a:rPr>
              <a:t>M., 5 anos — intensidade da dificuldade por domínio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200" b="0" i="0">
                <a:solidFill>
                  <a:srgbClr val="9DB8AA"/>
                </a:solidFill>
                <a:latin typeface="Segoe UI"/>
              </a:rPr>
              <a:t>Escala única de 0 a 100 · ilustrativa, não é medida padronizada · Fontes: prontuário e relato materno (2026)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5120640" cy="182880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Atenção sustentada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685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00" b="0" i="0">
                <a:solidFill>
                  <a:srgbClr val="9DB8AA"/>
                </a:solidFill>
                <a:latin typeface="Segoe UI"/>
              </a:rPr>
              <a:t>Antes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2697480"/>
            <a:ext cx="3138220" cy="201168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679192"/>
            <a:ext cx="6400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00" b="1" i="0">
                <a:solidFill>
                  <a:srgbClr val="F2C46D"/>
                </a:solidFill>
                <a:latin typeface="Segoe UI"/>
              </a:rPr>
              <a:t>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916936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050" b="0" i="0">
                <a:solidFill>
                  <a:srgbClr val="9DB8AA"/>
                </a:solidFill>
                <a:latin typeface="Segoe UI"/>
              </a:rPr>
              <a:t>não permanecia diante da TV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27832"/>
            <a:ext cx="685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00" b="0" i="0">
                <a:solidFill>
                  <a:srgbClr val="9DB8AA"/>
                </a:solidFill>
                <a:latin typeface="Segoe UI"/>
              </a:rPr>
              <a:t>Depois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3209544"/>
            <a:ext cx="1497787" cy="201168"/>
          </a:xfrm>
          <a:prstGeom prst="roundRect">
            <a:avLst>
              <a:gd name="adj" fmla="val 50000"/>
            </a:avLst>
          </a:prstGeom>
          <a:solidFill>
            <a:srgbClr val="6FE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191256"/>
            <a:ext cx="6400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00" b="1" i="0">
                <a:solidFill>
                  <a:srgbClr val="F2C46D"/>
                </a:solidFill>
                <a:latin typeface="Segoe UI"/>
              </a:rPr>
              <a:t>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429000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050" b="0" i="0">
                <a:solidFill>
                  <a:srgbClr val="9DB8AA"/>
                </a:solidFill>
                <a:latin typeface="Segoe UI"/>
              </a:rPr>
              <a:t>mantém brincadeiras calmas por 10–15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48840"/>
            <a:ext cx="5120640" cy="182880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Hiperatividade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15768"/>
            <a:ext cx="685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00" b="0" i="0">
                <a:solidFill>
                  <a:srgbClr val="9DB8AA"/>
                </a:solidFill>
                <a:latin typeface="Segoe UI"/>
              </a:rPr>
              <a:t>Antes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697480"/>
            <a:ext cx="3280867" cy="201168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679192"/>
            <a:ext cx="6400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00" b="1" i="0">
                <a:solidFill>
                  <a:srgbClr val="F2C46D"/>
                </a:solidFill>
                <a:latin typeface="Segoe UI"/>
              </a:rPr>
              <a:t>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916936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050" b="0" i="0">
                <a:solidFill>
                  <a:srgbClr val="9DB8AA"/>
                </a:solidFill>
                <a:latin typeface="Segoe UI"/>
              </a:rPr>
              <a:t>agitação contínua, “não para”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227832"/>
            <a:ext cx="685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00" b="0" i="0">
                <a:solidFill>
                  <a:srgbClr val="9DB8AA"/>
                </a:solidFill>
                <a:latin typeface="Segoe UI"/>
              </a:rPr>
              <a:t>Depois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3209544"/>
            <a:ext cx="1640433" cy="201168"/>
          </a:xfrm>
          <a:prstGeom prst="roundRect">
            <a:avLst>
              <a:gd name="adj" fmla="val 50000"/>
            </a:avLst>
          </a:prstGeom>
          <a:solidFill>
            <a:srgbClr val="6FE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3191256"/>
            <a:ext cx="6400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00" b="1" i="0">
                <a:solidFill>
                  <a:srgbClr val="F2C46D"/>
                </a:solidFill>
                <a:latin typeface="Segoe UI"/>
              </a:rPr>
              <a:t>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429000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050" b="0" i="0">
                <a:solidFill>
                  <a:srgbClr val="9DB8AA"/>
                </a:solidFill>
                <a:latin typeface="Segoe UI"/>
              </a:rPr>
              <a:t>corre e brinca, mas volta à calma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114800"/>
            <a:ext cx="5120640" cy="182880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Dificuldade de interação social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81728"/>
            <a:ext cx="685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00" b="0" i="0">
                <a:solidFill>
                  <a:srgbClr val="9DB8AA"/>
                </a:solidFill>
                <a:latin typeface="Segoe UI"/>
              </a:rPr>
              <a:t>Antes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91640" y="4663440"/>
            <a:ext cx="2496312" cy="201168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645152"/>
            <a:ext cx="6400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00" b="1" i="0">
                <a:solidFill>
                  <a:srgbClr val="F2C46D"/>
                </a:solidFill>
                <a:latin typeface="Segoe UI"/>
              </a:rPr>
              <a:t>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882896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050" b="0" i="0">
                <a:solidFill>
                  <a:srgbClr val="9DB8AA"/>
                </a:solidFill>
                <a:latin typeface="Segoe UI"/>
              </a:rPr>
              <a:t>poucos pares, brincar solitário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93792"/>
            <a:ext cx="685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00" b="0" i="0">
                <a:solidFill>
                  <a:srgbClr val="9DB8AA"/>
                </a:solidFill>
                <a:latin typeface="Segoe UI"/>
              </a:rPr>
              <a:t>Depois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91640" y="5175504"/>
            <a:ext cx="998524" cy="201168"/>
          </a:xfrm>
          <a:prstGeom prst="roundRect">
            <a:avLst>
              <a:gd name="adj" fmla="val 50000"/>
            </a:avLst>
          </a:prstGeom>
          <a:solidFill>
            <a:srgbClr val="6FE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5157216"/>
            <a:ext cx="6400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00" b="1" i="0">
                <a:solidFill>
                  <a:srgbClr val="F2C46D"/>
                </a:solidFill>
                <a:latin typeface="Segoe UI"/>
              </a:rPr>
              <a:t>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5394960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050" b="0" i="0">
                <a:solidFill>
                  <a:srgbClr val="9DB8AA"/>
                </a:solidFill>
                <a:latin typeface="Segoe UI"/>
              </a:rPr>
              <a:t>brinca todo dia, é chamada pelas colegas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114800"/>
            <a:ext cx="5120640" cy="182880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Sessão terapêutica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681728"/>
            <a:ext cx="685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00" b="0" i="0">
                <a:solidFill>
                  <a:srgbClr val="9DB8AA"/>
                </a:solidFill>
                <a:latin typeface="Segoe UI"/>
              </a:rPr>
              <a:t>Antes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0" y="4663440"/>
            <a:ext cx="3031236" cy="201168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21240" y="4645152"/>
            <a:ext cx="6400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00" b="1" i="0">
                <a:solidFill>
                  <a:srgbClr val="F2C46D"/>
                </a:solidFill>
                <a:latin typeface="Segoe UI"/>
              </a:rPr>
              <a:t>85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882896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050" b="0" i="0">
                <a:solidFill>
                  <a:srgbClr val="9DB8AA"/>
                </a:solidFill>
                <a:latin typeface="Segoe UI"/>
              </a:rPr>
              <a:t>trocas rápidas de brinquedo, fala acelerada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193792"/>
            <a:ext cx="685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00" b="0" i="0">
                <a:solidFill>
                  <a:srgbClr val="9DB8AA"/>
                </a:solidFill>
                <a:latin typeface="Segoe UI"/>
              </a:rPr>
              <a:t>Depois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0" y="5175504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6FE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21240" y="5157216"/>
            <a:ext cx="6400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00" b="1" i="0">
                <a:solidFill>
                  <a:srgbClr val="F2C46D"/>
                </a:solidFill>
                <a:latin typeface="Segoe UI"/>
              </a:rPr>
              <a:t>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394960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050" b="0" i="0">
                <a:solidFill>
                  <a:srgbClr val="9DB8AA"/>
                </a:solidFill>
                <a:latin typeface="Segoe UI"/>
              </a:rPr>
              <a:t>permanece, espera o turno, pede com palavras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50" b="0" i="0">
                <a:solidFill>
                  <a:srgbClr val="9DB8AA"/>
                </a:solidFill>
                <a:latin typeface="Segoe UI"/>
              </a:rPr>
              <a:t>Leitura: barra vermelha (antes) sempre maior que a verde (depois) — a dificuldade caiu nos quatro domínios. Valores ilustram o relato, não são escores.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322" dur="indefinite" restart="never" nodeType="tmRoot">
          <p:childTnLst>
            <p:seq concurrent="1" nextAc="seek">
              <p:cTn id="321" dur="indefinite" nodeType="mainSeq">
                <p:childTnLst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150"/>
                            </p:stCondLst>
                            <p:childTnLst>
                              <p:par>
                                <p:cTn id="2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240"/>
                            </p:stCondLst>
                            <p:childTnLst>
                              <p:par>
                                <p:cTn id="2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330"/>
                            </p:stCondLst>
                            <p:childTnLst>
                              <p:par>
                                <p:cTn id="2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420"/>
                            </p:stCondLst>
                            <p:childTnLst>
                              <p:par>
                                <p:cTn id="2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510"/>
                            </p:stCondLst>
                            <p:childTnLst>
                              <p:par>
                                <p:cTn id="2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600"/>
                            </p:stCondLst>
                            <p:childTnLst>
                              <p:par>
                                <p:cTn id="2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690"/>
                            </p:stCondLst>
                            <p:childTnLst>
                              <p:par>
                                <p:cTn id="2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780"/>
                            </p:stCondLst>
                            <p:childTnLst>
                              <p:par>
                                <p:cTn id="2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870"/>
                            </p:stCondLst>
                            <p:childTnLst>
                              <p:par>
                                <p:cTn id="3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960"/>
                            </p:stCondLst>
                            <p:childTnLst>
                              <p:par>
                                <p:cTn id="3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1050"/>
                            </p:stCondLst>
                            <p:childTnLst>
                              <p:par>
                                <p:cTn id="3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1140"/>
                            </p:stCondLst>
                            <p:childTnLst>
                              <p:par>
                                <p:cTn id="3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1230"/>
                            </p:stCondLst>
                            <p:childTnLst>
                              <p:par>
                                <p:cTn id="3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300" b="1" i="0">
                <a:solidFill>
                  <a:srgbClr val="F2C46D"/>
                </a:solidFill>
                <a:latin typeface="Segoe UI"/>
              </a:rPr>
              <a:t>DISCUSSÃO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3000" b="1" i="0">
                <a:solidFill>
                  <a:srgbClr val="6FE3A5"/>
                </a:solidFill>
                <a:latin typeface="Segoe UI"/>
              </a:rPr>
              <a:t>O que dá para afirmar — e o que não dá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120640" cy="182880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Afirmamos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O percurso de M. é coerente com a literatura (Damasceno; Kuo; Hood). A mudança de endereço não “tratou” a criança — ampliou seu campo relacional, liberando a tendência atualizante (Rogers, 2020).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783080"/>
            <a:ext cx="5120640" cy="182880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Não afirmamos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Nenhuma eficácia, causalidade ou remissão. Sem SNAP-IV basal, sem dose medida de brincar/telas e sem dado farmacológico, concluímos apenas coerência teórica e agenda.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1250" b="0" i="0">
                <a:solidFill>
                  <a:srgbClr val="F2C46D"/>
                </a:solidFill>
                <a:latin typeface="Segoe UI"/>
              </a:rPr>
              <a:t>⚠ Oito explicações alternativas: maturação (5,0–5,5 anos) · sono/rotina/escola · estresse familiar · aliança terapêutica · viés de expectativa materna · sazonalidade · redução de telas não mensurada · MEDICAÇÃO NÃO DECLARADA (se houve início/ajuste/suspensão, a leitura ambiental perde sustentação).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336" dur="indefinite" restart="never" nodeType="tmRoot">
          <p:childTnLst>
            <p:seq concurrent="1" nextAc="seek">
              <p:cTn id="335" dur="indefinite" nodeType="mainSeq">
                <p:childTnLst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200"/>
                            </p:stCondLst>
                            <p:childTnLst>
                              <p:par>
                                <p:cTn id="3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450"/>
                            </p:stCondLst>
                            <p:childTnLst>
                              <p:par>
                                <p:cTn id="3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800"/>
                            </p:stCondLst>
                            <p:childTnLst>
                              <p:par>
                                <p:cTn id="3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300" b="1" i="0">
                <a:solidFill>
                  <a:srgbClr val="F2C46D"/>
                </a:solidFill>
                <a:latin typeface="Segoe UI"/>
              </a:rP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3000" b="1" i="0">
                <a:solidFill>
                  <a:srgbClr val="6FE3A5"/>
                </a:solidFill>
                <a:latin typeface="Segoe UI"/>
              </a:rPr>
              <a:t>A ecologia do brincar entra na formulação clínica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600" b="0" i="0">
                <a:solidFill>
                  <a:srgbClr val="E9F5EE"/>
                </a:solidFill>
                <a:latin typeface="Segoe UI"/>
              </a:rPr>
              <a:t>Em pré-escolares com TDAH misto, a formulação deve incluir onde, com quem e por quanto tempo a criança brinca ao ar livre — ao lado de sintomas, família e escola (Bronfenbrenner, 1996).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80360"/>
            <a:ext cx="5120640" cy="219456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4 implicações práticas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• Registrar a dose diária de brincar externo social
• Priorizar verdes e abertos no predomínio hiperativo
• Envolver a escola no mapeamento do recreio
• Usar o registro como instrumento dialógico nas sessões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880360"/>
            <a:ext cx="5120640" cy="2194560"/>
          </a:xfrm>
          <a:prstGeom prst="roundRect">
            <a:avLst>
              <a:gd name="adj" fmla="val 7000"/>
            </a:avLst>
          </a:prstGeom>
          <a:solidFill>
            <a:srgbClr val="14291F"/>
          </a:solidFill>
          <a:ln w="15240">
            <a:solidFill>
              <a:srgbClr val="3F9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0160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A8F0C8"/>
                </a:solidFill>
                <a:latin typeface="Segoe UI"/>
              </a:rPr>
              <a:t>Contribuição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Documentar, em português e sob ótica humanista, um fenômeno quase ausente da literatura: o brincar de vizinhança não estruturado aos 5 anos — com categorias replicáveis para outros clínicos.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350" dur="indefinite" restart="never" nodeType="tmRoot">
          <p:childTnLst>
            <p:seq concurrent="1" nextAc="seek">
              <p:cTn id="349" dur="indefinite" nodeType="mainSeq">
                <p:childTnLst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200"/>
                            </p:stCondLst>
                            <p:childTnLst>
                              <p:par>
                                <p:cTn id="3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500"/>
                            </p:stCondLst>
                            <p:childTnLst>
                              <p:par>
                                <p:cTn id="3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650"/>
                            </p:stCondLst>
                            <p:childTnLst>
                              <p:par>
                                <p:cTn id="3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300" b="1" i="0">
                <a:solidFill>
                  <a:srgbClr val="F2C46D"/>
                </a:solidFill>
                <a:latin typeface="Segoe UI"/>
              </a:rP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3000" b="1" i="0">
                <a:solidFill>
                  <a:srgbClr val="6FE3A5"/>
                </a:solidFill>
                <a:latin typeface="Segoe UI"/>
              </a:rPr>
              <a:t>Agenda de continuidade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005840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550" b="0" i="0">
                <a:solidFill>
                  <a:srgbClr val="E9F5EE"/>
                </a:solidFill>
                <a:latin typeface="Segoe UI"/>
              </a:rPr>
              <a:t>✔  1. Aplicar SNAP-IV com pais e professores agora e em 3 meses (linha de base + seguimento)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50008"/>
            <a:ext cx="1005840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550" b="0" i="0">
                <a:solidFill>
                  <a:srgbClr val="E9F5EE"/>
                </a:solidFill>
                <a:latin typeface="Segoe UI"/>
              </a:rPr>
              <a:t>✔  2. Diário de 2 semanas: hora de rua, com quem, onde, hora de tela, hora de dormir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16936"/>
            <a:ext cx="1005840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550" b="0" i="0">
                <a:solidFill>
                  <a:srgbClr val="E9F5EE"/>
                </a:solidFill>
                <a:latin typeface="Segoe UI"/>
              </a:rPr>
              <a:t>✔  3. 8–12 sessões com protocolo axlineano registrado em vinhetas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83863"/>
            <a:ext cx="1005840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550" b="0" i="0">
                <a:solidFill>
                  <a:srgbClr val="E9F5EE"/>
                </a:solidFill>
                <a:latin typeface="Segoe UI"/>
              </a:rPr>
              <a:t>✔  4. Entrevista semiestruturada com a mãe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50791"/>
            <a:ext cx="1005840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550" b="0" i="0">
                <a:solidFill>
                  <a:srgbClr val="E9F5EE"/>
                </a:solidFill>
                <a:latin typeface="Segoe UI"/>
              </a:rPr>
              <a:t>✔  5. Submissão a Comitê de Ética em Pesquisa, se a pesquisa for institucional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1250" b="0" i="0">
                <a:solidFill>
                  <a:srgbClr val="F2C46D"/>
                </a:solidFill>
                <a:latin typeface="Segoe UI"/>
              </a:rPr>
              <a:t>⚠ Limitações assumidas: caso único · sem grupo controle · sem escala padronizada · dose não medida · medicação e sono sem informação · possível viés no relato materno.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376" dur="indefinite" restart="never" nodeType="tmRoot">
          <p:childTnLst>
            <p:seq concurrent="1" nextAc="seek">
              <p:cTn id="375" dur="indefinite" nodeType="mainSeq">
                <p:childTnLst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200"/>
                            </p:stCondLst>
                            <p:childTnLst>
                              <p:par>
                                <p:cTn id="3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400"/>
                            </p:stCondLst>
                            <p:childTnLst>
                              <p:par>
                                <p:cTn id="3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600"/>
                            </p:stCondLst>
                            <p:childTnLst>
                              <p:par>
                                <p:cTn id="3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800"/>
                            </p:stCondLst>
                            <p:childTnLst>
                              <p:par>
                                <p:cTn id="3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1000"/>
                            </p:stCondLst>
                            <p:childTnLst>
                              <p:par>
                                <p:cTn id="3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1200"/>
                            </p:stCondLst>
                            <p:childTnLst>
                              <p:par>
                                <p:cTn id="3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300" b="1" i="0">
                <a:solidFill>
                  <a:srgbClr val="F2C46D"/>
                </a:solidFill>
                <a:latin typeface="Segoe UI"/>
              </a:rPr>
              <a:t>FUNDAMENTAÇÃO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3000" b="1" i="0">
                <a:solidFill>
                  <a:srgbClr val="6FE3A5"/>
                </a:solidFill>
                <a:latin typeface="Segoe UI"/>
              </a:rPr>
              <a:t>Referências centrais (15 no manuscrito)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1. HOOD, M.; BAUMANN, O. Could nature contribute to the management of ADHD in children? A systematic review. Int. J. Environ. Res. Public Health, v. 21, n. 6, p. 736, 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7772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2. KUO, F. E.; FABER TAYLOR, A. A potential natural treatment for attention-deficit/hyperactivity disorder. Am. J. Public Health, v. 94, n. 9, p. 1580-1586, 2004.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7772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3. FABER TAYLOR, A.; KUO, F. E. Children with attention deficits concentrate better after walk in the park. J. Atten. Disord., v. 12, n. 5, p. 402-409, 2009.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10515600" cy="7772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4. DAMASCENO, M. M. S. et al. Crianças com TDAH em contato com a natureza: transformações possíveis. Educação &amp; Realidade, v. 50, 2025.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1250" b="0" i="0">
                <a:solidFill>
                  <a:srgbClr val="E9F5EE"/>
                </a:solidFill>
                <a:latin typeface="Segoe UI"/>
              </a:rPr>
              <a:t>5. ROGERS, C. R. Terapia centrada no cliente. São Paulo: Martins Fontes, 2020. · AXLINE, V. M. Ludoterapia. São Paulo: Summus, 1984. · BRONFENBRENNER, U. A ecologia do desenvolvimento humano. Porto Alegre: Artes Médicas, 1996.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398" dur="indefinite" restart="never" nodeType="tmRoot">
          <p:childTnLst>
            <p:seq concurrent="1" nextAc="seek">
              <p:cTn id="397" dur="indefinite" nodeType="mainSeq">
                <p:childTnLst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200"/>
                            </p:stCondLst>
                            <p:childTnLst>
                              <p:par>
                                <p:cTn id="3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380"/>
                            </p:stCondLst>
                            <p:childTnLst>
                              <p:par>
                                <p:cTn id="3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560"/>
                            </p:stCondLst>
                            <p:childTnLst>
                              <p:par>
                                <p:cTn id="3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740"/>
                            </p:stCondLst>
                            <p:childTnLst>
                              <p:par>
                                <p:cTn id="3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920"/>
                            </p:stCondLst>
                            <p:childTnLst>
                              <p:par>
                                <p:cTn id="3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2C46D"/>
                </a:solidFill>
                <a:latin typeface="Segoe UI"/>
              </a:rPr>
              <a:t>ENCERRAMENTO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5400" b="1" i="0">
                <a:solidFill>
                  <a:srgbClr val="E9F5EE"/>
                </a:solidFill>
                <a:latin typeface="Segoe UI"/>
              </a:rPr>
              <a:t>Obrigada.</a:t>
            </a:r>
          </a:p>
          <a:p>
            <a:pPr algn="ctr"/>
            <a:r>
              <a:rPr sz="3000" b="1" i="0">
                <a:solidFill>
                  <a:srgbClr val="6FE3A5"/>
                </a:solidFill>
                <a:latin typeface="Segoe UI"/>
              </a:rPr>
              <a:t>Estamos à disposição da banca.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0" i="1">
                <a:solidFill>
                  <a:srgbClr val="9DB8AA"/>
                </a:solidFill>
                <a:latin typeface="Segoe UI"/>
              </a:rPr>
              <a:t>“O corpo que precisava interromper para existir passou a correr, negociar e descansar.”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0" i="0">
                <a:solidFill>
                  <a:srgbClr val="9DB8AA"/>
                </a:solidFill>
                <a:latin typeface="Segoe UI"/>
              </a:rPr>
              <a:t>Relato de experiência — Clínica humanista ·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416" dur="indefinite" restart="never" nodeType="tmRoot">
          <p:childTnLst>
            <p:seq concurrent="1" nextAc="seek">
              <p:cTn id="415" dur="indefinite" nodeType="mainSeq">
                <p:childTnLst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150"/>
                            </p:stCondLst>
                            <p:childTnLst>
                              <p:par>
                                <p:cTn id="4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320"/>
                            </p:stCondLst>
                            <p:childTnLst>
                              <p:par>
                                <p:cTn id="4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490"/>
                            </p:stCondLst>
                            <p:childTnLst>
                              <p:par>
                                <p:cTn id="4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660"/>
                            </p:stCondLst>
                            <p:childTnLst>
                              <p:par>
                                <p:cTn id="4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